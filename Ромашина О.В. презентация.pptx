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47488" y="0"/>
            <a:ext cx="164592" cy="6858000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0"/>
            <a:ext cx="6979615" cy="6858000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994691e1-b4e7-4356-8398-0b28dbbc9f29.jpg"/>
          <p:cNvPicPr>
            <a:picLocks noChangeAspect="1"/>
          </p:cNvPicPr>
          <p:nvPr/>
        </p:nvPicPr>
        <p:blipFill>
          <a:blip r:embed="rId2"/>
          <a:srcRect t="221" b="221"/>
          <a:stretch>
            <a:fillRect/>
          </a:stretch>
        </p:blipFill>
        <p:spPr>
          <a:xfrm>
            <a:off x="6382512" y="0"/>
            <a:ext cx="516636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82512" y="0"/>
            <a:ext cx="5166360" cy="6858000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566928"/>
            <a:ext cx="3886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A6E3"/>
                </a:solidFill>
                <a:latin typeface="Aptos"/>
              </a:rPr>
              <a:t>СОЦИАЛЬНЫЙ ФОНД РОССИИ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4069080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Aptos"/>
              </a:rPr>
              <a:t>ОДИН ДЕНЬ
РАБОТЫ В СФР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2944368"/>
            <a:ext cx="1005840" cy="64008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273552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2100" b="1" i="0">
                <a:solidFill>
                  <a:srgbClr val="FFFFFF"/>
                </a:solidFill>
                <a:latin typeface="Aptos"/>
              </a:defRPr>
            </a:pPr>
            <a:r>
              <a:t>Ромашина Ольга Викторовна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Ведущий специалист-эксперт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defRPr sz="1250" b="0" i="0">
                <a:solidFill>
                  <a:srgbClr val="DCE5F5"/>
                </a:solidFill>
                <a:latin typeface="Aptos"/>
              </a:defRPr>
            </a:pPr>
            <a:r>
              <a:t>отдела установления мер социальной поддержки семьям с детьми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250" b="0" i="0">
                <a:solidFill>
                  <a:srgbClr val="DCE5F5"/>
                </a:solidFill>
                <a:latin typeface="Aptos"/>
              </a:defRPr>
            </a:pPr>
            <a:r>
              <a:t>Управление социального обеспечения семей с детьми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6199632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ptos"/>
              </a:rPr>
              <a:t>ЗАБОТА • ПОЛЕЗНОСТЬ • НАДЁЖНОСТЬ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ПРОФЕССИОНАЛЬНЫЙ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Опыт, знания, ответственность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4389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5D6C82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10863072" cy="18288"/>
          </a:xfrm>
          <a:prstGeom prst="rect">
            <a:avLst/>
          </a:prstGeom>
          <a:solidFill>
            <a:srgbClr val="D9E1EC"/>
          </a:solidFill>
          <a:ln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2926080" cy="4315968"/>
          </a:xfrm>
          <a:prstGeom prst="roundRect">
            <a:avLst>
              <a:gd name="adj" fmla="val 12000"/>
            </a:avLst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233172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 i="0">
                <a:solidFill>
                  <a:srgbClr val="FFFFFF"/>
                </a:solidFill>
                <a:latin typeface="Apto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907792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ptos"/>
              </a:rPr>
              <a:t>лет профессионального
опыта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1133856" y="3749039"/>
            <a:ext cx="1965960" cy="27432"/>
          </a:xfrm>
          <a:prstGeom prst="rect">
            <a:avLst/>
          </a:prstGeom>
          <a:solidFill>
            <a:srgbClr val="5B82C3"/>
          </a:solidFill>
          <a:ln>
            <a:solidFill>
              <a:srgbClr val="5B82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087368"/>
            <a:ext cx="23317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0A6E3"/>
                </a:solidFill>
                <a:latin typeface="Aptos"/>
              </a:rPr>
              <a:t>3,5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700016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ptos"/>
              </a:rPr>
              <a:t>в Управлении социального
обеспечения семей с детьми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1700784"/>
            <a:ext cx="7607808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3632" y="1700784"/>
            <a:ext cx="91440" cy="1170432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892808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ОБРАЗОВАНИЕ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194560"/>
            <a:ext cx="678484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293B"/>
                </a:solidFill>
                <a:latin typeface="Aptos"/>
              </a:rPr>
              <a:t>Московский государственный университет экономики, статистики и информатики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136392"/>
            <a:ext cx="7607808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13632" y="3136392"/>
            <a:ext cx="91440" cy="1170432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328416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A6E3"/>
                </a:solidFill>
                <a:latin typeface="Aptos"/>
              </a:rPr>
              <a:t>ДОЛЖНОСТЬ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630168"/>
            <a:ext cx="678484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293B"/>
                </a:solidFill>
                <a:latin typeface="Aptos"/>
              </a:rPr>
              <a:t>Ведущий специалист-эксперт отдела установления мер социальной поддержки семьям с детьми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3632" y="4572000"/>
            <a:ext cx="7607808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3632" y="4572000"/>
            <a:ext cx="91440" cy="1170432"/>
          </a:xfrm>
          <a:prstGeom prst="rect">
            <a:avLst/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5CA6"/>
                </a:solidFill>
                <a:latin typeface="Aptos"/>
              </a:rPr>
              <a:t>ПРОФЕССИОНАЛЬНЫЙ ФОКУС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065776"/>
            <a:ext cx="678484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293B"/>
                </a:solidFill>
                <a:latin typeface="Aptos"/>
              </a:rPr>
              <a:t>Точная оценка права на поддержку, внимание к обстоятельствам семьи и понятная помощь гражданам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МОЯ РОЛЬ И ОБЯЗАННОСТИ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Каждое решение — в интересах семьи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4389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5D6C82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10863072" cy="18288"/>
          </a:xfrm>
          <a:prstGeom prst="rect">
            <a:avLst/>
          </a:prstGeom>
          <a:solidFill>
            <a:srgbClr val="D9E1EC"/>
          </a:solidFill>
          <a:ln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00200"/>
            <a:ext cx="73152" cy="1261872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6968" y="1810512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28800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783080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Заявления на единое пособие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30552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Рассматриваю заявления и контролирую полноту сведений.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600200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600200"/>
            <a:ext cx="73152" cy="1261872"/>
          </a:xfrm>
          <a:prstGeom prst="rect">
            <a:avLst/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3368" y="1810512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828800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2864" y="1783080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Проверка документов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2130552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Проверяю документы и корректность представленных данных.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36391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136391"/>
            <a:ext cx="73152" cy="1261872"/>
          </a:xfrm>
          <a:prstGeom prst="rect">
            <a:avLst/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" y="3346703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364991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319272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Комплексная оценка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666744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Провожу комплексную оценку нуждаемости семьи.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136391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136391"/>
            <a:ext cx="73152" cy="1261872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73368" y="3346703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3364991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2864" y="3319272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Сложные ситуации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3666744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Помогаю разобраться в нестандартных жизненных обстоятельствах.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672583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672583"/>
            <a:ext cx="73152" cy="1261872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6968" y="4882896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901183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" y="4855464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Консультирование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5202936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Разъясняю порядок назначения детских пособий, в том числе гражданам, проходящим военную службу.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4672583"/>
            <a:ext cx="513892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4672583"/>
            <a:ext cx="73152" cy="1261872"/>
          </a:xfrm>
          <a:prstGeom prst="rect">
            <a:avLst/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3368" y="4882896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73368" y="4901183"/>
            <a:ext cx="4206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12864" y="4855464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A72"/>
                </a:solidFill>
                <a:latin typeface="Aptos"/>
              </a:rPr>
              <a:t>Взаимодействие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2864" y="5202936"/>
            <a:ext cx="4187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D6C82"/>
                </a:solidFill>
                <a:latin typeface="Aptos"/>
              </a:rPr>
              <a:t>Сотрудничаю с другими отделами Управления и организациями.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МИССИЯ СФР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Забота о благополучии каждого человека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4389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5D6C82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10863072" cy="18288"/>
          </a:xfrm>
          <a:prstGeom prst="rect">
            <a:avLst/>
          </a:prstGeom>
          <a:solidFill>
            <a:srgbClr val="D9E1EC"/>
          </a:solidFill>
          <a:ln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8cadcd5-b1a8-4bc2-b789-82acb5443140.jpg"/>
          <p:cNvPicPr>
            <a:picLocks noChangeAspect="1"/>
          </p:cNvPicPr>
          <p:nvPr/>
        </p:nvPicPr>
        <p:blipFill>
          <a:blip r:embed="rId2"/>
          <a:srcRect t="9839" b="9839"/>
          <a:stretch>
            <a:fillRect/>
          </a:stretch>
        </p:blipFill>
        <p:spPr>
          <a:xfrm>
            <a:off x="658368" y="1581912"/>
            <a:ext cx="4251960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1581912"/>
            <a:ext cx="4251960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8384" y="17099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МИССИЯ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2057400"/>
            <a:ext cx="566928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Мы заботимся
о благополучии
каждого человека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58384" y="3639312"/>
            <a:ext cx="1005840" cy="54864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8384" y="4005072"/>
            <a:ext cx="5669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>
                <a:solidFill>
                  <a:srgbClr val="1E293B"/>
                </a:solidFill>
                <a:latin typeface="Aptos"/>
              </a:rPr>
              <a:t>Реализуя социальную политику государства, мы обеспечиваем простоту и удобство получения гражданами мер социальной поддержки на основе современных технологий.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8384" y="5394960"/>
            <a:ext cx="5669280" cy="640080"/>
          </a:xfrm>
          <a:prstGeom prst="roundRect">
            <a:avLst>
              <a:gd name="adj" fmla="val 12000"/>
            </a:avLst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1848" y="5559552"/>
            <a:ext cx="5138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5CA6"/>
                </a:solidFill>
                <a:latin typeface="Aptos"/>
              </a:rPr>
              <a:t>Моя работа помогает воплощать эту миссию каждый день.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ЦЕННОСТИ ФОНДА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Ориентиры в ежедневной работе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4389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5D6C82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10863072" cy="18288"/>
          </a:xfrm>
          <a:prstGeom prst="rect">
            <a:avLst/>
          </a:prstGeom>
          <a:solidFill>
            <a:srgbClr val="D9E1EC"/>
          </a:solidFill>
          <a:ln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36776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FCEAF2"/>
          </a:solidFill>
          <a:ln>
            <a:solidFill>
              <a:srgbClr val="FC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D7186A"/>
                </a:solidFill>
                <a:latin typeface="Aptos"/>
              </a:rPr>
              <a:t>ЗАБОТА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854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внимание к человеку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5" y="1636776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5CA6"/>
                </a:solidFill>
                <a:latin typeface="Aptos"/>
              </a:rPr>
              <a:t>ПОЛЕЗНОСТЬ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1854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реальная помощь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953512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118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5CA6"/>
                </a:solidFill>
                <a:latin typeface="Aptos"/>
              </a:rPr>
              <a:t>ДОСТУПНОСТЬ И ОТКРЫТОСТЬ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5021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понятные решения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5" y="2953512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FCEAF2"/>
          </a:solidFill>
          <a:ln>
            <a:solidFill>
              <a:srgbClr val="FC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31181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D7186A"/>
                </a:solidFill>
                <a:latin typeface="Aptos"/>
              </a:rPr>
              <a:t>НАДЁЖНОСТЬ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350215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ответственность за результат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270248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FCEAF2"/>
          </a:solidFill>
          <a:ln>
            <a:solidFill>
              <a:srgbClr val="FC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434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D7186A"/>
                </a:solidFill>
                <a:latin typeface="Aptos"/>
              </a:rPr>
              <a:t>САМОСОВЕРШЕНСТВОВАНИЕ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81888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новые знания и навыки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8415" y="4270248"/>
            <a:ext cx="2432304" cy="1042415"/>
          </a:xfrm>
          <a:prstGeom prst="roundRect">
            <a:avLst>
              <a:gd name="adj" fmla="val 12000"/>
            </a:avLst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4434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C5CA6"/>
                </a:solidFill>
                <a:latin typeface="Aptos"/>
              </a:rPr>
              <a:t>ЕДИНСТВО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81888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E293B"/>
                </a:solidFill>
                <a:latin typeface="Aptos"/>
              </a:rPr>
              <a:t>работа одной командой</a:t>
            </a:r>
          </a:p>
        </p:txBody>
      </p:sp>
      <p:pic>
        <p:nvPicPr>
          <p:cNvPr id="24" name="Picture 23" descr="cb43bb22-7768-4187-817d-8a77cfb71e1d.jpg"/>
          <p:cNvPicPr>
            <a:picLocks noChangeAspect="1"/>
          </p:cNvPicPr>
          <p:nvPr/>
        </p:nvPicPr>
        <p:blipFill>
          <a:blip r:embed="rId2"/>
          <a:srcRect t="18022" b="18022"/>
          <a:stretch>
            <a:fillRect/>
          </a:stretch>
        </p:blipFill>
        <p:spPr>
          <a:xfrm>
            <a:off x="6181344" y="1581912"/>
            <a:ext cx="5340096" cy="4553712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81344" y="1581912"/>
            <a:ext cx="5340096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7186A"/>
                </a:solidFill>
                <a:latin typeface="Aptos"/>
              </a:rPr>
              <a:t>ОДИН ДЕНЬ РАБОТЫ В СФР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42A72"/>
                </a:solidFill>
                <a:latin typeface="Aptos"/>
              </a:rPr>
              <a:t>Рабочий день в кадре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4389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5D6C82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10863072" cy="18288"/>
          </a:xfrm>
          <a:prstGeom prst="rect">
            <a:avLst/>
          </a:prstGeom>
          <a:solidFill>
            <a:srgbClr val="D9E1EC"/>
          </a:solidFill>
          <a:ln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34c7407-6386-4676-be20-f8da82ad0683.jpg"/>
          <p:cNvPicPr>
            <a:picLocks noChangeAspect="1"/>
          </p:cNvPicPr>
          <p:nvPr/>
        </p:nvPicPr>
        <p:blipFill>
          <a:blip r:embed="rId2"/>
          <a:srcRect l="12376" r="12376"/>
          <a:stretch>
            <a:fillRect/>
          </a:stretch>
        </p:blipFill>
        <p:spPr>
          <a:xfrm>
            <a:off x="658368" y="1572768"/>
            <a:ext cx="3355848" cy="40416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09160"/>
            <a:ext cx="3355848" cy="90525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873752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РАБОТА С ЗАЯВЛЕНИЯМИ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212080"/>
            <a:ext cx="302666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CE7F6"/>
                </a:solidFill>
                <a:latin typeface="Aptos"/>
              </a:rPr>
              <a:t>Внимание к деталям</a:t>
            </a:r>
          </a:p>
        </p:txBody>
      </p:sp>
      <p:pic>
        <p:nvPicPr>
          <p:cNvPr id="10" name="Picture 9" descr="67a66b21-a2f8-4dde-b70b-aab2b1f59db5.jpg"/>
          <p:cNvPicPr>
            <a:picLocks noChangeAspect="1"/>
          </p:cNvPicPr>
          <p:nvPr/>
        </p:nvPicPr>
        <p:blipFill>
          <a:blip r:embed="rId3"/>
          <a:srcRect l="11695" r="11695"/>
          <a:stretch>
            <a:fillRect/>
          </a:stretch>
        </p:blipFill>
        <p:spPr>
          <a:xfrm>
            <a:off x="4334255" y="1572768"/>
            <a:ext cx="3355848" cy="404164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334255" y="4709160"/>
            <a:ext cx="3355848" cy="90525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4873752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АНАЛИЗ ДОКУМЕНТОВ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5212080"/>
            <a:ext cx="302666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CE7F6"/>
                </a:solidFill>
                <a:latin typeface="Aptos"/>
              </a:rPr>
              <a:t>Точность каждого решения</a:t>
            </a:r>
          </a:p>
        </p:txBody>
      </p:sp>
      <p:pic>
        <p:nvPicPr>
          <p:cNvPr id="14" name="Picture 13" descr="d32f3dd0-611d-4581-8b50-384b9844b818.jpg"/>
          <p:cNvPicPr>
            <a:picLocks noChangeAspect="1"/>
          </p:cNvPicPr>
          <p:nvPr/>
        </p:nvPicPr>
        <p:blipFill>
          <a:blip r:embed="rId4"/>
          <a:srcRect t="4837" b="4837"/>
          <a:stretch>
            <a:fillRect/>
          </a:stretch>
        </p:blipFill>
        <p:spPr>
          <a:xfrm>
            <a:off x="8010144" y="1572768"/>
            <a:ext cx="3355848" cy="40416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10144" y="4709160"/>
            <a:ext cx="3355848" cy="90525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873752"/>
            <a:ext cx="3026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КОНСУЛЬТИРОВАНИЕ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5212080"/>
            <a:ext cx="3026664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CE7F6"/>
                </a:solidFill>
                <a:latin typeface="Aptos"/>
              </a:rPr>
              <a:t>Помощь в сложной ситуации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943600"/>
            <a:ext cx="78912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1">
                <a:solidFill>
                  <a:srgbClr val="142A72"/>
                </a:solidFill>
                <a:latin typeface="Aptos"/>
              </a:rPr>
              <a:t>За каждым заявлением — конкретная семья.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510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D6C82"/>
                </a:solidFill>
                <a:latin typeface="Aptos"/>
              </a:rP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38944" y="0"/>
            <a:ext cx="2352751" cy="6858000"/>
          </a:xfrm>
          <a:prstGeom prst="rect">
            <a:avLst/>
          </a:prstGeom>
          <a:solidFill>
            <a:srgbClr val="1C5CA6"/>
          </a:solidFill>
          <a:ln>
            <a:solidFill>
              <a:srgbClr val="1C5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32f3dd0-611d-4581-8b50-384b9844b818.jpg"/>
          <p:cNvPicPr>
            <a:picLocks noChangeAspect="1"/>
          </p:cNvPicPr>
          <p:nvPr/>
        </p:nvPicPr>
        <p:blipFill>
          <a:blip r:embed="rId2"/>
          <a:srcRect l="6212" r="6212"/>
          <a:stretch>
            <a:fillRect/>
          </a:stretch>
        </p:blipFill>
        <p:spPr>
          <a:xfrm>
            <a:off x="8284464" y="749808"/>
            <a:ext cx="3255264" cy="4956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84464" y="749808"/>
            <a:ext cx="3255264" cy="4956048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8229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A6E3"/>
                </a:solidFill>
                <a:latin typeface="Aptos"/>
              </a:rPr>
              <a:t>ОДИН ДЕНЬ РАБОТЫ В СФР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389888"/>
            <a:ext cx="69037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ptos"/>
              </a:rPr>
              <a:t>СПАСИБО
ЗА ВНИМАНИЕ!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2816352"/>
            <a:ext cx="1024128" cy="54864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255264"/>
            <a:ext cx="6473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800" b="0" i="0">
                <a:solidFill>
                  <a:srgbClr val="DEE7F6"/>
                </a:solidFill>
                <a:latin typeface="Aptos"/>
              </a:rPr>
              <a:t>Опыт помогает принимать взвешенные решения, а ценности Фонда — сохранять внимание к каждому человеку.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4709160"/>
            <a:ext cx="6382512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28616"/>
            <a:ext cx="58338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ptos"/>
              </a:rPr>
              <a:t>Забота о людях — основа нашей работы.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6053328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РОМАШИНА ОЛЬГА ВИКТОРОВНА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825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29984"/>
            <a:ext cx="7955279" cy="128016"/>
          </a:xfrm>
          <a:prstGeom prst="rect">
            <a:avLst/>
          </a:prstGeom>
          <a:solidFill>
            <a:srgbClr val="142A72"/>
          </a:solidFill>
          <a:ln>
            <a:solidFill>
              <a:srgbClr val="142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6729984"/>
            <a:ext cx="1463040" cy="128016"/>
          </a:xfrm>
          <a:prstGeom prst="rect">
            <a:avLst/>
          </a:prstGeom>
          <a:solidFill>
            <a:srgbClr val="D7186A"/>
          </a:solidFill>
          <a:ln>
            <a:solidFill>
              <a:srgbClr val="D71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18320" y="6729984"/>
            <a:ext cx="2773375" cy="128016"/>
          </a:xfrm>
          <a:prstGeom prst="rect">
            <a:avLst/>
          </a:prstGeom>
          <a:solidFill>
            <a:srgbClr val="00A6E3"/>
          </a:solidFill>
          <a:ln>
            <a:solidFill>
              <a:srgbClr val="00A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Один день работы в СФР — Ромашина Ольга Викторовна</dc:title>
  <dc:subject>Профессиональная презентация сотрудника СФР</dc:subject>
  <dc:creator>Ромашина Ольга Викторовна</dc:creator>
  <cp:keywords>СФР, социальная поддержка, семьи с детьми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