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729984"/>
          </a:xfrm>
          <a:prstGeom prst="rect">
            <a:avLst/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22191" y="0"/>
            <a:ext cx="109728" cy="6729984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0A6E3"/>
                </a:solidFill>
                <a:latin typeface="Aptos"/>
              </a:rPr>
              <a:t>СОЦИАЛЬНЫЙ ФОНД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512064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50" b="1" i="0">
                <a:solidFill>
                  <a:srgbClr val="FFFFFF"/>
                </a:solidFill>
                <a:latin typeface="Aptos"/>
              </a:rPr>
              <a:t>ОДИН ДЕНЬ РАБОТЫ В СФР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950976"/>
            <a:ext cx="868680" cy="45720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rait_civil_defense.jpg"/>
          <p:cNvPicPr>
            <a:picLocks noChangeAspect="1"/>
          </p:cNvPicPr>
          <p:nvPr/>
        </p:nvPicPr>
        <p:blipFill>
          <a:blip r:embed="rId2"/>
          <a:srcRect t="23063" b="23063"/>
          <a:stretch>
            <a:fillRect/>
          </a:stretch>
        </p:blipFill>
        <p:spPr>
          <a:xfrm>
            <a:off x="329184" y="1097280"/>
            <a:ext cx="3246120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9184" y="10972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3511296"/>
            <a:ext cx="32918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Ромашина Ольга Викторовна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150" b="1" i="0">
                <a:solidFill>
                  <a:srgbClr val="00A6E3"/>
                </a:solidFill>
                <a:latin typeface="Aptos"/>
              </a:defRPr>
            </a:pPr>
            <a:r>
              <a:t>Ведущий специалист-эксперт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DCE5F5"/>
                </a:solidFill>
                <a:latin typeface="Aptos"/>
              </a:defRPr>
            </a:pPr>
            <a:r>
              <a:t>отдела установления мер социальной поддержки семьям с детьми Управления социального обеспечения семей с детьми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" y="4700016"/>
            <a:ext cx="1572768" cy="822960"/>
          </a:xfrm>
          <a:prstGeom prst="roundRect">
            <a:avLst>
              <a:gd name="adj" fmla="val 8000"/>
            </a:avLst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7548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19 лет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06577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E1EBFA"/>
                </a:solidFill>
                <a:latin typeface="Aptos"/>
              </a:rPr>
              <a:t>профессионального
опыта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2536" y="4700016"/>
            <a:ext cx="1572768" cy="822960"/>
          </a:xfrm>
          <a:prstGeom prst="roundRect">
            <a:avLst>
              <a:gd name="adj" fmla="val 8000"/>
            </a:avLst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47548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0A6E3"/>
                </a:solidFill>
                <a:latin typeface="Aptos"/>
              </a:rPr>
              <a:t>3,5 года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06577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Aptos"/>
              </a:rPr>
              <a:t>в Управлении соц.
обеспечения семей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5614416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0E1F58"/>
          </a:solidFill>
          <a:ln w="12700"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6692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0A6E3"/>
                </a:solidFill>
                <a:latin typeface="Aptos"/>
              </a:rPr>
              <a:t>ОБРАЗОВАНИЕ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5852160"/>
            <a:ext cx="3017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FFFFFF"/>
                </a:solidFill>
                <a:latin typeface="Aptos"/>
              </a:rPr>
              <a:t>Московский государственный университет экономики, статистики и информатики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6419088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0A6E3"/>
                </a:solidFill>
                <a:latin typeface="Aptos"/>
              </a:rPr>
              <a:t>ЗАБОТА • ПОЛЕЗНОСТЬ • НАДЁЖНОСТЬ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256032"/>
            <a:ext cx="6949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7186A"/>
                </a:solidFill>
                <a:latin typeface="Aptos"/>
              </a:rPr>
              <a:t>ПРОФЕССИОНАЛЬНЫЙ ПУТЬ И ОБЯЗАННОСТИ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47548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42A72"/>
                </a:solidFill>
                <a:latin typeface="Aptos"/>
              </a:rPr>
              <a:t>Опыт, знания и каждое решение — в интересах семьи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31089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5D6C82"/>
                </a:solidFill>
                <a:latin typeface="Aptos"/>
              </a:rPr>
              <a:t>01 / 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2" y="914400"/>
            <a:ext cx="7662672" cy="18288"/>
          </a:xfrm>
          <a:prstGeom prst="rect">
            <a:avLst/>
          </a:prstGeom>
          <a:solidFill>
            <a:srgbClr val="D9E1EC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87952" y="1042415"/>
            <a:ext cx="507492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87952" y="1042415"/>
            <a:ext cx="82296" cy="1353312"/>
          </a:xfrm>
          <a:prstGeom prst="rect">
            <a:avLst/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1133856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C5CA6"/>
                </a:solidFill>
                <a:latin typeface="Aptos"/>
              </a:rPr>
              <a:t>ПРОФЕССИОНАЛЬНЫЙ ФОКУС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1371600"/>
            <a:ext cx="46817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1E293B"/>
                </a:solidFill>
                <a:latin typeface="Aptos"/>
              </a:rPr>
              <a:t>Точная оценка права на поддержку, внимание к обстоятельствам каждой семьи и понятная помощь гражданам.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1901952"/>
            <a:ext cx="46817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D6C82"/>
                </a:solidFill>
                <a:latin typeface="Aptos"/>
              </a:rPr>
              <a:t>Профессиональный стаж — 19 лет, из них 3,5 года в отделе установления мер социальной поддержки семьям с детьми.</a:t>
            </a:r>
          </a:p>
        </p:txBody>
      </p:sp>
      <p:pic>
        <p:nvPicPr>
          <p:cNvPr id="29" name="Picture 28" descr="desk_front.png"/>
          <p:cNvPicPr>
            <a:picLocks noChangeAspect="1"/>
          </p:cNvPicPr>
          <p:nvPr/>
        </p:nvPicPr>
        <p:blipFill>
          <a:blip r:embed="rId3"/>
          <a:srcRect t="19845" b="19845"/>
          <a:stretch>
            <a:fillRect/>
          </a:stretch>
        </p:blipFill>
        <p:spPr>
          <a:xfrm>
            <a:off x="9418320" y="1042415"/>
            <a:ext cx="2432304" cy="135331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418320" y="1042415"/>
            <a:ext cx="243230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7952" y="2523744"/>
            <a:ext cx="7662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7186A"/>
                </a:solidFill>
                <a:latin typeface="Aptos"/>
              </a:rPr>
              <a:t>МОЯ РОЛЬ И ОБЯЗАННОСТИ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87952" y="2798064"/>
            <a:ext cx="766267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7952" y="2798064"/>
            <a:ext cx="73152" cy="621792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52544" y="292608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29718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2871216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42A72"/>
                </a:solidFill>
                <a:latin typeface="Aptos"/>
              </a:rPr>
              <a:t>Соблюдение законодательства РФ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081528"/>
            <a:ext cx="6876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 i="0">
                <a:solidFill>
                  <a:srgbClr val="1E293B"/>
                </a:solidFill>
                <a:latin typeface="Aptos"/>
              </a:rPr>
              <a:t>Неукоснительно соблюдать законодательство Российской Федерации при рассмотрении обращений и назначении мер поддержки.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87952" y="3511296"/>
            <a:ext cx="766267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7952" y="3511296"/>
            <a:ext cx="73152" cy="621792"/>
          </a:xfrm>
          <a:prstGeom prst="rect">
            <a:avLst/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52544" y="3639312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52544" y="36850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58444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42A72"/>
                </a:solidFill>
                <a:latin typeface="Aptos"/>
              </a:rPr>
              <a:t>Консультирование граждан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3794759"/>
            <a:ext cx="6876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 i="0">
                <a:solidFill>
                  <a:srgbClr val="1E293B"/>
                </a:solidFill>
                <a:latin typeface="Aptos"/>
              </a:rPr>
              <a:t>Консультирование граждан о назначении детских пособий, помощь в разъяснении порядка и условий предоставления выплат.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87952" y="4224528"/>
            <a:ext cx="766267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87952" y="4224528"/>
            <a:ext cx="73152" cy="621792"/>
          </a:xfrm>
          <a:prstGeom prst="rect">
            <a:avLst/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52544" y="4352544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52544" y="43982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42976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42A72"/>
                </a:solidFill>
                <a:latin typeface="Aptos"/>
              </a:rPr>
              <a:t>Работа в ГИС ЕЦП и анализ сведений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8032" y="4507992"/>
            <a:ext cx="6876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 i="0">
                <a:solidFill>
                  <a:srgbClr val="1E293B"/>
                </a:solidFill>
                <a:latin typeface="Aptos"/>
              </a:rPr>
              <a:t>Осуществлять в ГИС ЕЦП анализ заявлений, ручную обработку сведений Росреестра, вводить данные из скан-образцов и нецифровых источников подтверждающих документов.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87952" y="4937760"/>
            <a:ext cx="766267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87952" y="4937760"/>
            <a:ext cx="73152" cy="621792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52544" y="5065776"/>
            <a:ext cx="365760" cy="365760"/>
          </a:xfrm>
          <a:prstGeom prst="roundRect">
            <a:avLst>
              <a:gd name="adj" fmla="val 8000"/>
            </a:avLst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52544" y="51114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8032" y="501091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42A72"/>
                </a:solidFill>
                <a:latin typeface="Aptos"/>
              </a:rPr>
              <a:t>Применение информационных систем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2" y="5221224"/>
            <a:ext cx="6876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 i="0">
                <a:solidFill>
                  <a:srgbClr val="1E293B"/>
                </a:solidFill>
                <a:latin typeface="Aptos"/>
              </a:rPr>
              <a:t>В своей деятельности использовать программное обеспечение ГИС ЕЦП, АРМ ГС, СЭД, а также разрешенные к применению носители информации.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87952" y="5650992"/>
            <a:ext cx="766267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87952" y="5650992"/>
            <a:ext cx="73152" cy="621792"/>
          </a:xfrm>
          <a:prstGeom prst="rect">
            <a:avLst/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52544" y="5779007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52544" y="58247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28032" y="5724144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42A72"/>
                </a:solidFill>
                <a:latin typeface="Aptos"/>
              </a:rPr>
              <a:t>Защита информации и дисциплина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28032" y="5934455"/>
            <a:ext cx="6876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80" b="0" i="0">
                <a:solidFill>
                  <a:srgbClr val="1E293B"/>
                </a:solidFill>
                <a:latin typeface="Aptos"/>
              </a:rPr>
              <a:t>Обеспечивать выполнение требований по защите информации и соблюдение внутреннего трудового распорядка отделения.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5D6C82"/>
                </a:solidFill>
                <a:latin typeface="Aptos"/>
              </a:rPr>
              <a:t>РОМАШИНА ОЛЬГА ВИКТОРОВНА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01984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5D6C82"/>
                </a:solidFill>
                <a:latin typeface="Aptos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29984"/>
            <a:ext cx="7955279" cy="128016"/>
          </a:xfrm>
          <a:prstGeom prst="rect">
            <a:avLst/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79" y="6729984"/>
            <a:ext cx="1463040" cy="128016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18320" y="6729984"/>
            <a:ext cx="2773375" cy="128016"/>
          </a:xfrm>
          <a:prstGeom prst="rect">
            <a:avLst/>
          </a:prstGeom>
          <a:solidFill>
            <a:srgbClr val="00A6E3"/>
          </a:solidFill>
          <a:ln>
            <a:solidFill>
              <a:srgbClr val="00A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5603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7186A"/>
                </a:solidFill>
                <a:latin typeface="Aptos"/>
              </a:rPr>
              <a:t>МИССИЯ, ЦЕННОСТИ И 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4754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42A72"/>
                </a:solidFill>
                <a:latin typeface="Aptos"/>
              </a:rPr>
              <a:t>Забота о благополучии каждого человека и ориентиры в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10896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5D6C82"/>
                </a:solidFill>
                <a:latin typeface="Aptos"/>
              </a:rPr>
              <a:t>02 /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914400"/>
            <a:ext cx="11164824" cy="18288"/>
          </a:xfrm>
          <a:prstGeom prst="rect">
            <a:avLst/>
          </a:prstGeom>
          <a:solidFill>
            <a:srgbClr val="D9E1EC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1060704"/>
            <a:ext cx="5440680" cy="3803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060704"/>
            <a:ext cx="5440680" cy="73152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ient_consultation.png"/>
          <p:cNvPicPr>
            <a:picLocks noChangeAspect="1"/>
          </p:cNvPicPr>
          <p:nvPr/>
        </p:nvPicPr>
        <p:blipFill>
          <a:blip r:embed="rId2"/>
          <a:srcRect l="12197" r="12197"/>
          <a:stretch>
            <a:fillRect/>
          </a:stretch>
        </p:blipFill>
        <p:spPr>
          <a:xfrm>
            <a:off x="694944" y="1261872"/>
            <a:ext cx="2148840" cy="3419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99232" y="12435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D7186A"/>
                </a:solidFill>
                <a:latin typeface="Aptos"/>
              </a:rPr>
              <a:t>МИССИЯ СФР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481328"/>
            <a:ext cx="27889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1" i="0">
                <a:solidFill>
                  <a:srgbClr val="142A72"/>
                </a:solidFill>
                <a:latin typeface="Aptos"/>
              </a:rPr>
              <a:t>Мы заботимся
о благополучии
каждого человека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2432304"/>
            <a:ext cx="777240" cy="45720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578608"/>
            <a:ext cx="278892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1E293B"/>
                </a:solidFill>
                <a:latin typeface="Aptos"/>
              </a:rPr>
              <a:t>Реализуя социальную политику государства, мы обеспечиваем простоту и удобство получения гражданами мер социальной поддержки на основе современных технологий.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3931920"/>
            <a:ext cx="2788920" cy="749808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4059936"/>
            <a:ext cx="25420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C5CA6"/>
                </a:solidFill>
                <a:latin typeface="Aptos"/>
              </a:rPr>
              <a:t>Моя работа помогает воплощать эту миссию каждый день.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060704"/>
            <a:ext cx="5532120" cy="3803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060704"/>
            <a:ext cx="5532120" cy="73152"/>
          </a:xfrm>
          <a:prstGeom prst="rect">
            <a:avLst/>
          </a:prstGeom>
          <a:solidFill>
            <a:srgbClr val="1C5CA6"/>
          </a:solidFill>
          <a:ln>
            <a:solidFill>
              <a:srgbClr val="1C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22529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C5CA6"/>
                </a:solidFill>
                <a:latin typeface="Aptos"/>
              </a:rPr>
              <a:t>ЦЕННОСТИ ФОНДА — ОРИЕНТИРЫ В ЕЖЕДНЕВНОЙ РАБОТЕ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536192"/>
            <a:ext cx="1609344" cy="896112"/>
          </a:xfrm>
          <a:prstGeom prst="roundRect">
            <a:avLst>
              <a:gd name="adj" fmla="val 8000"/>
            </a:avLst>
          </a:prstGeom>
          <a:solidFill>
            <a:srgbClr val="FCEAF2"/>
          </a:solidFill>
          <a:ln>
            <a:solidFill>
              <a:srgbClr val="FC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64207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7186A"/>
                </a:solidFill>
                <a:latin typeface="Aptos"/>
              </a:rPr>
              <a:t>ЗАБОТА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29967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E293B"/>
                </a:solidFill>
                <a:latin typeface="Aptos"/>
              </a:rPr>
              <a:t>внимание к человеку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1536192"/>
            <a:ext cx="1609344" cy="896112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64207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C5CA6"/>
                </a:solidFill>
                <a:latin typeface="Aptos"/>
              </a:rPr>
              <a:t>ПОЛЕЗНОСТЬ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29967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E293B"/>
                </a:solidFill>
                <a:latin typeface="Aptos"/>
              </a:rPr>
              <a:t>реальная помощь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2578608"/>
            <a:ext cx="1609344" cy="896112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70662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C5CA6"/>
                </a:solidFill>
                <a:latin typeface="Aptos"/>
              </a:rPr>
              <a:t>ДОСТУПНОСТЬ И ОТКРЫТОСТЬ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0723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E293B"/>
                </a:solidFill>
                <a:latin typeface="Aptos"/>
              </a:rPr>
              <a:t>понятные решения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2578608"/>
            <a:ext cx="1609344" cy="896112"/>
          </a:xfrm>
          <a:prstGeom prst="roundRect">
            <a:avLst>
              <a:gd name="adj" fmla="val 8000"/>
            </a:avLst>
          </a:prstGeom>
          <a:solidFill>
            <a:srgbClr val="FCEAF2"/>
          </a:solidFill>
          <a:ln>
            <a:solidFill>
              <a:srgbClr val="FC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70662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7186A"/>
                </a:solidFill>
                <a:latin typeface="Aptos"/>
              </a:rPr>
              <a:t>НАДЁЖНОСТЬ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723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E293B"/>
                </a:solidFill>
                <a:latin typeface="Aptos"/>
              </a:rPr>
              <a:t>ответственность за результат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5936" y="3621024"/>
            <a:ext cx="1609344" cy="896112"/>
          </a:xfrm>
          <a:prstGeom prst="roundRect">
            <a:avLst>
              <a:gd name="adj" fmla="val 8000"/>
            </a:avLst>
          </a:prstGeom>
          <a:solidFill>
            <a:srgbClr val="FCEAF2"/>
          </a:solidFill>
          <a:ln>
            <a:solidFill>
              <a:srgbClr val="FC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749039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7186A"/>
                </a:solidFill>
                <a:latin typeface="Aptos"/>
              </a:rPr>
              <a:t>САМОСОВЕРШЕНСТВОВАНИЕ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1148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E293B"/>
                </a:solidFill>
                <a:latin typeface="Aptos"/>
              </a:rPr>
              <a:t>новые знания и навыки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621024"/>
            <a:ext cx="1609344" cy="896112"/>
          </a:xfrm>
          <a:prstGeom prst="roundRect">
            <a:avLst>
              <a:gd name="adj" fmla="val 8000"/>
            </a:avLst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749039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C5CA6"/>
                </a:solidFill>
                <a:latin typeface="Aptos"/>
              </a:rPr>
              <a:t>ЕДИНСТВО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1148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E293B"/>
                </a:solidFill>
                <a:latin typeface="Aptos"/>
              </a:rPr>
              <a:t>работа одной командой</a:t>
            </a:r>
          </a:p>
        </p:txBody>
      </p:sp>
      <p:pic>
        <p:nvPicPr>
          <p:cNvPr id="36" name="Picture 35" descr="desk_side.png"/>
          <p:cNvPicPr>
            <a:picLocks noChangeAspect="1"/>
          </p:cNvPicPr>
          <p:nvPr/>
        </p:nvPicPr>
        <p:blipFill>
          <a:blip r:embed="rId3"/>
          <a:srcRect l="24418" r="24418"/>
          <a:stretch>
            <a:fillRect/>
          </a:stretch>
        </p:blipFill>
        <p:spPr>
          <a:xfrm>
            <a:off x="9820656" y="1536192"/>
            <a:ext cx="1682496" cy="312724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9820656" y="4005072"/>
            <a:ext cx="1682496" cy="658368"/>
          </a:xfrm>
          <a:prstGeom prst="rect">
            <a:avLst/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409651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Работа в ГИС ЕЦП
и анализ документов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5010912"/>
            <a:ext cx="11164824" cy="1371600"/>
          </a:xfrm>
          <a:prstGeom prst="roundRect">
            <a:avLst>
              <a:gd name="adj" fmla="val 8000"/>
            </a:avLst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" y="5010912"/>
            <a:ext cx="109728" cy="1371600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138928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00A6E3"/>
                </a:solidFill>
                <a:latin typeface="Aptos"/>
              </a:rPr>
              <a:t>ОДИН ДЕНЬ РАБОТЫ В СФР • ЗАКЛЮЧЕНИЕ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5394960"/>
            <a:ext cx="6903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Опыт помогает принимать взвешенные решения, а ценности Фонда — сохранять внимание к каждому человеку.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961888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CAE1FA"/>
                </a:solidFill>
                <a:latin typeface="Aptos"/>
              </a:rPr>
              <a:t>Забота о людях — основа нашей работы.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36992" y="5193792"/>
            <a:ext cx="3529584" cy="1005840"/>
          </a:xfrm>
          <a:prstGeom prst="roundRect">
            <a:avLst>
              <a:gd name="adj" fmla="val 8000"/>
            </a:avLst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5358384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СПАСИБО ЗА ВНИМАНИЕ!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1" y="5779008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Aptos"/>
              </a:rPr>
              <a:t>Ромашина Ольга Викторовна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6473952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5D6C82"/>
                </a:solidFill>
                <a:latin typeface="Aptos"/>
              </a:rPr>
              <a:t>РОМАШИНА ОЛЬГА ВИКТОРОВНА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28248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5D6C82"/>
                </a:solidFill>
                <a:latin typeface="Aptos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29984"/>
            <a:ext cx="7955279" cy="128016"/>
          </a:xfrm>
          <a:prstGeom prst="rect">
            <a:avLst/>
          </a:prstGeom>
          <a:solidFill>
            <a:srgbClr val="142A72"/>
          </a:solidFill>
          <a:ln>
            <a:solidFill>
              <a:srgbClr val="142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55279" y="6729984"/>
            <a:ext cx="1463040" cy="128016"/>
          </a:xfrm>
          <a:prstGeom prst="rect">
            <a:avLst/>
          </a:prstGeom>
          <a:solidFill>
            <a:srgbClr val="D7186A"/>
          </a:solidFill>
          <a:ln>
            <a:solidFill>
              <a:srgbClr val="D71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18320" y="6729984"/>
            <a:ext cx="2773375" cy="128016"/>
          </a:xfrm>
          <a:prstGeom prst="rect">
            <a:avLst/>
          </a:prstGeom>
          <a:solidFill>
            <a:srgbClr val="00A6E3"/>
          </a:solidFill>
          <a:ln>
            <a:solidFill>
              <a:srgbClr val="00A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Один день работы в СФР — Ромашина Ольга Викторовна (2 слайда)</dc:title>
  <dc:subject>Профессиональная презентация сотрудника СФР</dc:subject>
  <dc:creator>Ромашина Ольга Викторовна</dc:creator>
  <cp:keywords>СФР, социальная поддержка, семьи с детьми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